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d9c4534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d9c4534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e9090756a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e9090756a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91e1f37e_1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91e1f37e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05826aa3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05826aa3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05826aa3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05826aa3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91e1f3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91e1f3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05826aa35_0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05826aa3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05826aa3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05826aa3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05826aa35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05826aa3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05826aa35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05826aa3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05826aa3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05826aa3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05826aa3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05826aa3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05826aa3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05826aa3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05826aa3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05826aa3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05826aa35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05826aa3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460950" y="2681950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Case: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Exploratory Data Analysis in Online Casinos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/>
              <a:t>Reveneu and Performance</a:t>
            </a:r>
            <a:endParaRPr sz="4000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564525" y="3996155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Jean Paul Chong Shing 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April 6th,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/>
          <p:cNvPicPr preferRelativeResize="0"/>
          <p:nvPr/>
        </p:nvPicPr>
        <p:blipFill rotWithShape="1">
          <a:blip r:embed="rId3">
            <a:alphaModFix/>
          </a:blip>
          <a:srcRect b="0" l="7783" r="0" t="0"/>
          <a:stretch/>
        </p:blipFill>
        <p:spPr>
          <a:xfrm>
            <a:off x="1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63750" y="683975"/>
            <a:ext cx="8416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/>
              <a:t>Analyze online casino performance metrics </a:t>
            </a:r>
            <a:endParaRPr b="1"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1F1F1F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Connecticut Online Casino Consortium</a:t>
            </a:r>
            <a:endParaRPr sz="3000">
              <a:solidFill>
                <a:srgbClr val="1F1F1F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/>
              <a:t>Data Source: monthly license revenue reports</a:t>
            </a:r>
            <a:endParaRPr sz="2600"/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Methodology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5271900" cy="30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 sz="1800"/>
              <a:t>Processing: Cleaning, date conversion, create metrics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 sz="1800"/>
              <a:t>Exploratory analysis: view revenue, licences, promotion.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 sz="1800"/>
              <a:t>Descriptive analysis: correlation and insights.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 sz="1800"/>
              <a:t>Business Recommendation</a:t>
            </a:r>
            <a:endParaRPr sz="1800"/>
          </a:p>
        </p:txBody>
      </p:sp>
      <p:pic>
        <p:nvPicPr>
          <p:cNvPr descr="Creative visual of business big data and finance analysis on computer (proporcionada por Getty Images)"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0800" y="2262375"/>
            <a:ext cx="3084902" cy="17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The Problems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3471050" y="277225"/>
            <a:ext cx="5100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419"/>
              <a:t>Revenue Trends Analysis: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How has the total gaming revenue changed over time?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Are there seasonal trends in casino revenue?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419"/>
              <a:t>Impact of Promotions: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Do promotional credits and deductions lead to higher overall revenue?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Is there a correlation between promotional spending and net winnings?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419"/>
              <a:t>Casino Performance Comparison: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Which casino licenses generate the highest revenue?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Are there specific casinos consistently underperforming?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419"/>
              <a:t>Wagering and Payout Patterns: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How do cancelled wagers impact revenue?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What percentage of wagers is typically returned as winnings?</a:t>
            </a:r>
            <a:endParaRPr/>
          </a:p>
        </p:txBody>
      </p:sp>
      <p:pic>
        <p:nvPicPr>
          <p:cNvPr descr="Collaborating to solve the problem (proporcionada por Getty Images)"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50" y="1465800"/>
            <a:ext cx="2185252" cy="327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/>
              <a:t>DATA SET DESCRIPTION</a:t>
            </a:r>
            <a:endParaRPr sz="2800"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The dataset contains 143 records with 11 columns.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600"/>
              <a:t>There are no null values, so imputation is not required.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600"/>
              <a:t>The data ranges from October 2021 to 2024.</a:t>
            </a:r>
            <a:endParaRPr/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4337500" y="514150"/>
            <a:ext cx="3753900" cy="9621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Consumidor</a:t>
            </a:r>
            <a:endParaRPr/>
          </a:p>
        </p:txBody>
      </p:sp>
      <p:cxnSp>
        <p:nvCxnSpPr>
          <p:cNvPr id="97" name="Google Shape;97;p17"/>
          <p:cNvCxnSpPr>
            <a:stCxn id="96" idx="2"/>
            <a:endCxn id="98" idx="0"/>
          </p:cNvCxnSpPr>
          <p:nvPr/>
        </p:nvCxnSpPr>
        <p:spPr>
          <a:xfrm>
            <a:off x="6214450" y="1476250"/>
            <a:ext cx="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7"/>
          <p:cNvCxnSpPr>
            <a:stCxn id="98" idx="2"/>
            <a:endCxn id="100" idx="0"/>
          </p:cNvCxnSpPr>
          <p:nvPr/>
        </p:nvCxnSpPr>
        <p:spPr>
          <a:xfrm>
            <a:off x="6214451" y="3052757"/>
            <a:ext cx="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7"/>
          <p:cNvSpPr txBox="1"/>
          <p:nvPr>
            <p:ph type="title"/>
          </p:nvPr>
        </p:nvSpPr>
        <p:spPr>
          <a:xfrm>
            <a:off x="4337501" y="3667157"/>
            <a:ext cx="3753900" cy="9621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Artista</a:t>
            </a:r>
            <a:endParaRPr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652" y="264050"/>
            <a:ext cx="5233823" cy="212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2986" y="2722900"/>
            <a:ext cx="5509150" cy="236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imer plano lateral de una mano que desliza una perilla en una mezcladora de sonidos" id="107" name="Google Shape;107;p18"/>
          <p:cNvPicPr preferRelativeResize="0"/>
          <p:nvPr/>
        </p:nvPicPr>
        <p:blipFill rotWithShape="1">
          <a:blip r:embed="rId3">
            <a:alphaModFix/>
          </a:blip>
          <a:srcRect b="15419" l="7506" r="42247" t="0"/>
          <a:stretch/>
        </p:blipFill>
        <p:spPr>
          <a:xfrm>
            <a:off x="-9150" y="0"/>
            <a:ext cx="45944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FASE: EDA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18"/>
          <p:cNvSpPr txBox="1"/>
          <p:nvPr>
            <p:ph idx="2" type="body"/>
          </p:nvPr>
        </p:nvSpPr>
        <p:spPr>
          <a:xfrm>
            <a:off x="4939500" y="724200"/>
            <a:ext cx="40086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2400"/>
              <a:t>Exploratory Data Analysis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Q1. Revenue Trends Analysis</a:t>
            </a:r>
            <a:endParaRPr/>
          </a:p>
        </p:txBody>
      </p:sp>
      <p:sp>
        <p:nvSpPr>
          <p:cNvPr id="115" name="Google Shape;115;p19"/>
          <p:cNvSpPr txBox="1"/>
          <p:nvPr>
            <p:ph idx="4294967295" type="body"/>
          </p:nvPr>
        </p:nvSpPr>
        <p:spPr>
          <a:xfrm>
            <a:off x="210975" y="1147650"/>
            <a:ext cx="2825100" cy="30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 sz="1800"/>
              <a:t>How has the total gaming revenue changed over time?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-419" sz="1800"/>
              <a:t>Are there seasonal trends in casino revenue?</a:t>
            </a:r>
            <a:endParaRPr sz="1800"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6650" y="874275"/>
            <a:ext cx="5948201" cy="210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3031025" y="2977100"/>
            <a:ext cx="5850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★"/>
            </a:pPr>
            <a:r>
              <a:rPr lang="es-419" sz="1100"/>
              <a:t>The total revenue has shown increasing patterns from October 2021 onwards, an stability from Jan 2022 to Sep 2022, them </a:t>
            </a:r>
            <a:r>
              <a:rPr lang="es-419" sz="1100"/>
              <a:t>increasing</a:t>
            </a:r>
            <a:r>
              <a:rPr lang="es-419" sz="1100"/>
              <a:t> fluctuation almost of 200% of growing.</a:t>
            </a:r>
            <a:br>
              <a:rPr lang="es-419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★"/>
            </a:pPr>
            <a:r>
              <a:rPr lang="es-419" sz="1100"/>
              <a:t>Peaks are observed in </a:t>
            </a:r>
            <a:r>
              <a:rPr b="1" lang="es-419" sz="1100"/>
              <a:t>March, November</a:t>
            </a:r>
            <a:r>
              <a:rPr lang="es-419" sz="1100"/>
              <a:t>, suggesting potential </a:t>
            </a:r>
            <a:r>
              <a:rPr b="1" lang="es-419" sz="1100"/>
              <a:t>seasonality</a:t>
            </a:r>
            <a:r>
              <a:rPr lang="es-419" sz="1100"/>
              <a:t> (holidays or promotions). People have more free time and are more willing to spend on entertainment such as online gaming.</a:t>
            </a:r>
            <a:br>
              <a:rPr lang="es-419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★"/>
            </a:pPr>
            <a:r>
              <a:rPr lang="es-419" sz="1100"/>
              <a:t>Overall trend shows a </a:t>
            </a:r>
            <a:r>
              <a:rPr lang="es-419" sz="1100"/>
              <a:t>overall </a:t>
            </a:r>
            <a:r>
              <a:rPr b="1" lang="es-419" sz="1100"/>
              <a:t>upward trajectory,</a:t>
            </a:r>
            <a:r>
              <a:rPr lang="es-419" sz="1100"/>
              <a:t> showing long-term market growth</a:t>
            </a:r>
            <a:endParaRPr sz="1100"/>
          </a:p>
        </p:txBody>
      </p:sp>
      <p:cxnSp>
        <p:nvCxnSpPr>
          <p:cNvPr id="118" name="Google Shape;118;p19"/>
          <p:cNvCxnSpPr/>
          <p:nvPr/>
        </p:nvCxnSpPr>
        <p:spPr>
          <a:xfrm>
            <a:off x="3933650" y="1618675"/>
            <a:ext cx="0" cy="358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5858550" y="1147650"/>
            <a:ext cx="0" cy="358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9"/>
          <p:cNvCxnSpPr/>
          <p:nvPr/>
        </p:nvCxnSpPr>
        <p:spPr>
          <a:xfrm>
            <a:off x="7109250" y="788850"/>
            <a:ext cx="0" cy="358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9"/>
          <p:cNvCxnSpPr/>
          <p:nvPr/>
        </p:nvCxnSpPr>
        <p:spPr>
          <a:xfrm flipH="1" rot="10800000">
            <a:off x="4020575" y="1700775"/>
            <a:ext cx="4235100" cy="8277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9"/>
          <p:cNvSpPr txBox="1"/>
          <p:nvPr/>
        </p:nvSpPr>
        <p:spPr>
          <a:xfrm>
            <a:off x="7701125" y="1700775"/>
            <a:ext cx="31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sz="22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Seasonality Analysis (monthly)</a:t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775" y="1200500"/>
            <a:ext cx="4802150" cy="31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5645875" y="2196600"/>
            <a:ext cx="3099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There is a pattern indicating slightly higher revenues in months like </a:t>
            </a:r>
            <a:r>
              <a:rPr b="1" lang="es-419"/>
              <a:t>March and November,</a:t>
            </a:r>
            <a:r>
              <a:rPr lang="es-419"/>
              <a:t> suggesting a potential seasonal behavior.</a:t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1230950" y="1428875"/>
            <a:ext cx="543600" cy="543600"/>
          </a:xfrm>
          <a:prstGeom prst="ellipse">
            <a:avLst/>
          </a:prstGeom>
          <a:solidFill>
            <a:srgbClr val="9E9E9E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4188875" y="1320300"/>
            <a:ext cx="543600" cy="543600"/>
          </a:xfrm>
          <a:prstGeom prst="ellipse">
            <a:avLst/>
          </a:prstGeom>
          <a:solidFill>
            <a:srgbClr val="9E9E9E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Q2: Impact of Promotions</a:t>
            </a:r>
            <a:endParaRPr/>
          </a:p>
        </p:txBody>
      </p:sp>
      <p:sp>
        <p:nvSpPr>
          <p:cNvPr id="137" name="Google Shape;137;p21"/>
          <p:cNvSpPr txBox="1"/>
          <p:nvPr>
            <p:ph idx="4294967295" type="body"/>
          </p:nvPr>
        </p:nvSpPr>
        <p:spPr>
          <a:xfrm>
            <a:off x="98250" y="983900"/>
            <a:ext cx="36843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-419" sz="1300"/>
              <a:t>Do promotional credits and deductions lead to higher overall revenue?</a:t>
            </a:r>
            <a:endParaRPr sz="1300"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950" y="1689875"/>
            <a:ext cx="3924450" cy="251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4786950" y="1091775"/>
            <a:ext cx="41379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/>
              <a:t>Yes, are evidence that </a:t>
            </a:r>
            <a:r>
              <a:rPr b="1" lang="es-419" sz="1100"/>
              <a:t>promotional credits and deductions are positively associated with higher gross gaming revenue</a:t>
            </a:r>
            <a:r>
              <a:rPr lang="es-419" sz="1100"/>
              <a:t>. Based on the correlation analysis:</a:t>
            </a:r>
            <a:endParaRPr sz="1100"/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★"/>
            </a:pPr>
            <a:r>
              <a:rPr b="1" lang="es-419" sz="1100"/>
              <a:t>Promotional Deductions</a:t>
            </a:r>
            <a:r>
              <a:rPr lang="es-419" sz="1100"/>
              <a:t> have a </a:t>
            </a:r>
            <a:r>
              <a:rPr b="1" lang="es-419" sz="1100"/>
              <a:t>very strong positive correlation (0.94)</a:t>
            </a:r>
            <a:r>
              <a:rPr lang="es-419" sz="1100"/>
              <a:t> with </a:t>
            </a:r>
            <a:r>
              <a:rPr b="1" lang="es-419" sz="1100"/>
              <a:t>Total Gross Gaming Revenue</a:t>
            </a:r>
            <a:r>
              <a:rPr lang="es-419" sz="1100"/>
              <a:t>.</a:t>
            </a:r>
            <a:br>
              <a:rPr lang="es-419" sz="1100"/>
            </a:br>
            <a:endParaRPr sz="11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★"/>
            </a:pPr>
            <a:r>
              <a:rPr b="1" lang="es-419" sz="1100"/>
              <a:t>Promotional Credits Wagered</a:t>
            </a:r>
            <a:r>
              <a:rPr lang="es-419" sz="1100"/>
              <a:t> have a </a:t>
            </a:r>
            <a:r>
              <a:rPr b="1" lang="es-419" sz="1100"/>
              <a:t>moderate positive correlation (0.44)</a:t>
            </a:r>
            <a:r>
              <a:rPr lang="es-419" sz="1100"/>
              <a:t> with gross revenue.</a:t>
            </a:r>
            <a:br>
              <a:rPr lang="es-419" sz="1100"/>
            </a:b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100"/>
              <a:t>This suggests that when casinos </a:t>
            </a:r>
            <a:r>
              <a:rPr b="1" lang="es-419" sz="1100"/>
              <a:t>invest more in promotions</a:t>
            </a:r>
            <a:r>
              <a:rPr lang="es-419" sz="1100"/>
              <a:t>, they generally see </a:t>
            </a:r>
            <a:r>
              <a:rPr b="1" lang="es-419" sz="1100"/>
              <a:t>higher revenues</a:t>
            </a:r>
            <a:r>
              <a:rPr lang="es-419" sz="1100"/>
              <a:t>, likely because such promotions encourage more play and attract more users.</a:t>
            </a: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950" y="4299825"/>
            <a:ext cx="5059323" cy="6369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/>
          <p:nvPr/>
        </p:nvSpPr>
        <p:spPr>
          <a:xfrm>
            <a:off x="5091300" y="4430175"/>
            <a:ext cx="435000" cy="5547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Q2: Impact of Promotions</a:t>
            </a:r>
            <a:endParaRPr/>
          </a:p>
        </p:txBody>
      </p:sp>
      <p:sp>
        <p:nvSpPr>
          <p:cNvPr id="147" name="Google Shape;147;p22"/>
          <p:cNvSpPr txBox="1"/>
          <p:nvPr>
            <p:ph idx="4294967295" type="body"/>
          </p:nvPr>
        </p:nvSpPr>
        <p:spPr>
          <a:xfrm>
            <a:off x="167425" y="962150"/>
            <a:ext cx="39126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300"/>
              <a:t>2. </a:t>
            </a:r>
            <a:r>
              <a:rPr lang="es-419" sz="1300"/>
              <a:t>Is there a correlation between promotional spending and net winnings?</a:t>
            </a:r>
            <a:endParaRPr sz="1300"/>
          </a:p>
        </p:txBody>
      </p:sp>
      <p:sp>
        <p:nvSpPr>
          <p:cNvPr id="148" name="Google Shape;148;p22"/>
          <p:cNvSpPr txBox="1"/>
          <p:nvPr/>
        </p:nvSpPr>
        <p:spPr>
          <a:xfrm>
            <a:off x="4702475" y="1173550"/>
            <a:ext cx="4158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lang="es-419"/>
              <a:t>There is a moderate </a:t>
            </a:r>
            <a:r>
              <a:rPr b="1" lang="es-419"/>
              <a:t>positive correlation (0.47)</a:t>
            </a:r>
            <a:r>
              <a:rPr lang="es-419"/>
              <a:t> between promotional credits wagered and net winnings.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lang="es-419"/>
              <a:t>This suggests that when players </a:t>
            </a:r>
            <a:r>
              <a:rPr b="1" lang="es-419"/>
              <a:t>use promo credits</a:t>
            </a:r>
            <a:r>
              <a:rPr lang="es-419"/>
              <a:t>, they tend to generate higher net profits for the casino.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lang="es-419"/>
              <a:t>Promotions not only attract more wagers but may also influence player behavior in ways that increase casino profitability.</a:t>
            </a: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00" y="3957000"/>
            <a:ext cx="6819900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400" y="1689850"/>
            <a:ext cx="4259475" cy="211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Q3: Casino Performance Comparison</a:t>
            </a: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4993425" y="1111275"/>
            <a:ext cx="3740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★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MPI Master Wagering License CT, LLC is the top-performing casino license with over $561 million in gross gaming revenue.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★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Mohegan Digital, LLC follows closely with $444 million.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★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The two on-reservation licenses (MPTN and Mohegan Tribe) have significantly lower revenue.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3"/>
          <p:cNvSpPr txBox="1"/>
          <p:nvPr>
            <p:ph idx="4294967295" type="body"/>
          </p:nvPr>
        </p:nvSpPr>
        <p:spPr>
          <a:xfrm>
            <a:off x="200050" y="983900"/>
            <a:ext cx="4923900" cy="9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300"/>
              <a:t>5</a:t>
            </a:r>
            <a:r>
              <a:rPr lang="es-419" sz="1300"/>
              <a:t>. </a:t>
            </a:r>
            <a:r>
              <a:rPr lang="es-419" sz="1300"/>
              <a:t>Which casino licenses generate the highest revenue?</a:t>
            </a:r>
            <a:endParaRPr sz="1300"/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525" y="1441500"/>
            <a:ext cx="4298475" cy="32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Q3: Casino Performance Comparison</a:t>
            </a:r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50" y="1722475"/>
            <a:ext cx="4445401" cy="334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/>
        </p:nvSpPr>
        <p:spPr>
          <a:xfrm>
            <a:off x="4971675" y="1722475"/>
            <a:ext cx="37407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Yes. Based on the </a:t>
            </a:r>
            <a:r>
              <a:rPr b="1" lang="es-419" sz="1100">
                <a:latin typeface="Roboto"/>
                <a:ea typeface="Roboto"/>
                <a:cs typeface="Roboto"/>
                <a:sym typeface="Roboto"/>
              </a:rPr>
              <a:t>monthly revenue trends</a:t>
            </a: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 shown in the line chart: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b="1" lang="es-419" sz="1100">
                <a:latin typeface="Roboto"/>
                <a:ea typeface="Roboto"/>
                <a:cs typeface="Roboto"/>
                <a:sym typeface="Roboto"/>
              </a:rPr>
              <a:t>MPTN On-Reservation</a:t>
            </a: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s-419" sz="1100">
                <a:latin typeface="Roboto"/>
                <a:ea typeface="Roboto"/>
                <a:cs typeface="Roboto"/>
                <a:sym typeface="Roboto"/>
              </a:rPr>
              <a:t>Mohegan Tribe On-Reservation</a:t>
            </a: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 show consistent underperformance over time.</a:t>
            </a:r>
            <a:br>
              <a:rPr lang="es-419" sz="1100">
                <a:latin typeface="Roboto"/>
                <a:ea typeface="Roboto"/>
                <a:cs typeface="Roboto"/>
                <a:sym typeface="Roboto"/>
              </a:rPr>
            </a:b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Their revenue is significantly lower than </a:t>
            </a:r>
            <a:r>
              <a:rPr b="1" lang="es-419" sz="1100">
                <a:latin typeface="Roboto"/>
                <a:ea typeface="Roboto"/>
                <a:cs typeface="Roboto"/>
                <a:sym typeface="Roboto"/>
              </a:rPr>
              <a:t>MPI</a:t>
            </a: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s-419" sz="1100">
                <a:latin typeface="Roboto"/>
                <a:ea typeface="Roboto"/>
                <a:cs typeface="Roboto"/>
                <a:sym typeface="Roboto"/>
              </a:rPr>
              <a:t>Mohegan Digital</a:t>
            </a: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, with no notable spikes or upward trend.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4"/>
          <p:cNvSpPr txBox="1"/>
          <p:nvPr>
            <p:ph idx="4294967295" type="body"/>
          </p:nvPr>
        </p:nvSpPr>
        <p:spPr>
          <a:xfrm>
            <a:off x="200050" y="983900"/>
            <a:ext cx="4923900" cy="9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300"/>
              <a:t>6</a:t>
            </a:r>
            <a:r>
              <a:rPr lang="es-419" sz="1300"/>
              <a:t>. </a:t>
            </a:r>
            <a:r>
              <a:rPr lang="es-419" sz="1300"/>
              <a:t>Are there specific casinos consistently underperforming?</a:t>
            </a:r>
            <a:r>
              <a:rPr lang="es-419" sz="1300"/>
              <a:t>?</a:t>
            </a:r>
            <a:endParaRPr sz="1300"/>
          </a:p>
        </p:txBody>
      </p:sp>
      <p:sp>
        <p:nvSpPr>
          <p:cNvPr id="167" name="Google Shape;167;p24"/>
          <p:cNvSpPr/>
          <p:nvPr/>
        </p:nvSpPr>
        <p:spPr>
          <a:xfrm>
            <a:off x="121800" y="4212675"/>
            <a:ext cx="4741200" cy="435000"/>
          </a:xfrm>
          <a:prstGeom prst="rect">
            <a:avLst/>
          </a:prstGeom>
          <a:solidFill>
            <a:srgbClr val="9E9E9E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Q4: Wagering &amp; Payout Patterns</a:t>
            </a:r>
            <a:endParaRPr/>
          </a:p>
        </p:txBody>
      </p:sp>
      <p:sp>
        <p:nvSpPr>
          <p:cNvPr id="173" name="Google Shape;173;p25"/>
          <p:cNvSpPr txBox="1"/>
          <p:nvPr/>
        </p:nvSpPr>
        <p:spPr>
          <a:xfrm>
            <a:off x="4819650" y="1527025"/>
            <a:ext cx="41052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Yes. </a:t>
            </a:r>
            <a:r>
              <a:rPr b="1" lang="es-419" sz="1100"/>
              <a:t>strong positive correlation of 0.83</a:t>
            </a:r>
            <a:r>
              <a:rPr lang="es-419" sz="1100"/>
              <a:t> between </a:t>
            </a:r>
            <a:r>
              <a:rPr b="1" lang="es-419" sz="1100"/>
              <a:t>Cancelled Wagers</a:t>
            </a:r>
            <a:r>
              <a:rPr lang="es-419" sz="1100"/>
              <a:t> and </a:t>
            </a:r>
            <a:r>
              <a:rPr b="1" lang="es-419" sz="1100"/>
              <a:t>Gross Gaming Revenue</a:t>
            </a: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: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lang="es-419" sz="1100"/>
              <a:t>Cancelled wagers show a </a:t>
            </a:r>
            <a:r>
              <a:rPr b="1" lang="es-419" sz="1100"/>
              <a:t>strong positive correlation</a:t>
            </a:r>
            <a:r>
              <a:rPr lang="es-419" sz="1100"/>
              <a:t> with gross revenue.</a:t>
            </a:r>
            <a:br>
              <a:rPr lang="es-419" sz="1100"/>
            </a:br>
            <a:endParaRPr sz="11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lang="es-419" sz="1100"/>
              <a:t>This means that </a:t>
            </a:r>
            <a:r>
              <a:rPr b="1" lang="es-419" sz="1100"/>
              <a:t>higher total revenue months</a:t>
            </a:r>
            <a:r>
              <a:rPr lang="es-419" sz="1100"/>
              <a:t> tend to also have </a:t>
            </a:r>
            <a:r>
              <a:rPr b="1" lang="es-419" sz="1100"/>
              <a:t>more cancelled wagers</a:t>
            </a:r>
            <a:r>
              <a:rPr lang="es-419" sz="1100"/>
              <a:t>.</a:t>
            </a:r>
            <a:br>
              <a:rPr lang="es-419" sz="1100"/>
            </a:br>
            <a:endParaRPr sz="11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lang="es-419" sz="1100"/>
              <a:t>However, this </a:t>
            </a:r>
            <a:r>
              <a:rPr b="1" lang="es-419" sz="1100"/>
              <a:t>does not mean cancellations increase revenue</a:t>
            </a:r>
            <a:r>
              <a:rPr lang="es-419" sz="1100"/>
              <a:t>, but rather that </a:t>
            </a:r>
            <a:r>
              <a:rPr b="1" lang="es-419" sz="1100"/>
              <a:t>they are more common when activity is higher overall</a:t>
            </a:r>
            <a:r>
              <a:rPr lang="es-419" sz="1100"/>
              <a:t>.</a:t>
            </a:r>
            <a:br>
              <a:rPr lang="es-419" sz="1100"/>
            </a:br>
            <a:endParaRPr sz="11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lang="es-419" sz="1100"/>
              <a:t>In other words, </a:t>
            </a:r>
            <a:r>
              <a:rPr b="1" lang="es-419" sz="1100"/>
              <a:t>cancelled wagers are not harmful</a:t>
            </a:r>
            <a:r>
              <a:rPr lang="es-419" sz="1100"/>
              <a:t>, but </a:t>
            </a:r>
            <a:r>
              <a:rPr b="1" lang="es-419" sz="1100"/>
              <a:t>a byproduct of increased wagering activity</a:t>
            </a:r>
            <a:r>
              <a:rPr lang="es-419" sz="1100"/>
              <a:t>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5"/>
          <p:cNvSpPr txBox="1"/>
          <p:nvPr>
            <p:ph idx="4294967295" type="body"/>
          </p:nvPr>
        </p:nvSpPr>
        <p:spPr>
          <a:xfrm>
            <a:off x="200050" y="983900"/>
            <a:ext cx="4923900" cy="9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300"/>
              <a:t>7</a:t>
            </a:r>
            <a:r>
              <a:rPr lang="es-419" sz="1300"/>
              <a:t>. How do cancelled wagers impact revenue?</a:t>
            </a:r>
            <a:endParaRPr sz="1300"/>
          </a:p>
        </p:txBody>
      </p:sp>
      <p:pic>
        <p:nvPicPr>
          <p:cNvPr id="175" name="Google Shape;1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50" y="1527025"/>
            <a:ext cx="4256500" cy="25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051" y="4284400"/>
            <a:ext cx="4491176" cy="6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Q4: Wagering &amp; Payout Patterns</a:t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4971675" y="1722475"/>
            <a:ext cx="37407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To respond this, </a:t>
            </a: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i'm</a:t>
            </a: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 using data </a:t>
            </a: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statistic</a:t>
            </a: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: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lang="es-419" sz="1100"/>
              <a:t>The average </a:t>
            </a:r>
            <a:r>
              <a:rPr b="1" lang="es-419" sz="1100"/>
              <a:t>payout ratio</a:t>
            </a:r>
            <a:r>
              <a:rPr lang="es-419" sz="1100"/>
              <a:t> is </a:t>
            </a:r>
            <a:r>
              <a:rPr b="1" lang="es-419" sz="1100"/>
              <a:t>97.0%</a:t>
            </a:r>
            <a:r>
              <a:rPr lang="es-419" sz="1100"/>
              <a:t>, meaning that for every $100 wagered, approximately </a:t>
            </a:r>
            <a:r>
              <a:rPr b="1" lang="es-419" sz="1100"/>
              <a:t>$97 is returned to players</a:t>
            </a:r>
            <a:r>
              <a:rPr lang="es-419" sz="1100"/>
              <a:t> as winnings.</a:t>
            </a:r>
            <a:br>
              <a:rPr lang="es-419" sz="1100"/>
            </a:br>
            <a:endParaRPr sz="11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lang="es-419" sz="1100"/>
              <a:t>The </a:t>
            </a:r>
            <a:r>
              <a:rPr b="1" lang="es-419" sz="1100"/>
              <a:t>lowest payout</a:t>
            </a:r>
            <a:r>
              <a:rPr lang="es-419" sz="1100"/>
              <a:t> observed was </a:t>
            </a:r>
            <a:r>
              <a:rPr b="1" lang="es-419" sz="1100"/>
              <a:t>89%</a:t>
            </a:r>
            <a:r>
              <a:rPr lang="es-419" sz="1100"/>
              <a:t>, while the </a:t>
            </a:r>
            <a:r>
              <a:rPr b="1" lang="es-419" sz="1100"/>
              <a:t>highest</a:t>
            </a:r>
            <a:r>
              <a:rPr lang="es-419" sz="1100"/>
              <a:t> reached </a:t>
            </a:r>
            <a:r>
              <a:rPr b="1" lang="es-419" sz="1100"/>
              <a:t>104%</a:t>
            </a:r>
            <a:r>
              <a:rPr lang="es-419" sz="1100"/>
              <a:t>, indicating that in rare cases, players won more than they wagered.</a:t>
            </a:r>
            <a:br>
              <a:rPr lang="es-419" sz="1100"/>
            </a:br>
            <a:endParaRPr sz="11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lang="es-419" sz="1100"/>
              <a:t>The </a:t>
            </a:r>
            <a:r>
              <a:rPr b="1" lang="es-419" sz="1100"/>
              <a:t>standard deviation</a:t>
            </a:r>
            <a:r>
              <a:rPr lang="es-419" sz="1100"/>
              <a:t> is </a:t>
            </a:r>
            <a:r>
              <a:rPr b="1" lang="es-419" sz="1100"/>
              <a:t>2%</a:t>
            </a:r>
            <a:r>
              <a:rPr lang="es-419" sz="1100"/>
              <a:t>, showing </a:t>
            </a:r>
            <a:r>
              <a:rPr b="1" lang="es-419" sz="1100"/>
              <a:t>low variability</a:t>
            </a:r>
            <a:r>
              <a:rPr lang="es-419" sz="1100"/>
              <a:t> and suggesting that payout behavior is </a:t>
            </a:r>
            <a:r>
              <a:rPr b="1" lang="es-419" sz="1100"/>
              <a:t>very consistent</a:t>
            </a:r>
            <a:r>
              <a:rPr lang="es-419" sz="1100"/>
              <a:t> across months and licensees.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6"/>
          <p:cNvSpPr txBox="1"/>
          <p:nvPr>
            <p:ph idx="4294967295" type="body"/>
          </p:nvPr>
        </p:nvSpPr>
        <p:spPr>
          <a:xfrm>
            <a:off x="200050" y="983900"/>
            <a:ext cx="4923900" cy="9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300"/>
              <a:t>8</a:t>
            </a:r>
            <a:r>
              <a:rPr lang="es-419" sz="1300"/>
              <a:t>. What percentage of wagers is typically returned as winnings?</a:t>
            </a:r>
            <a:endParaRPr sz="1300"/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675" y="1593925"/>
            <a:ext cx="186690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Extra: Business Recommendations</a:t>
            </a:r>
            <a:endParaRPr/>
          </a:p>
        </p:txBody>
      </p:sp>
      <p:sp>
        <p:nvSpPr>
          <p:cNvPr id="190" name="Google Shape;190;p27"/>
          <p:cNvSpPr txBox="1"/>
          <p:nvPr/>
        </p:nvSpPr>
        <p:spPr>
          <a:xfrm>
            <a:off x="413225" y="1167900"/>
            <a:ext cx="8603700" cy="30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300"/>
              <a:t>1. Invest Strategically in Promotions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-419" sz="1100"/>
              <a:t>Promotions are strongly linked to revenue growth.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419" sz="1100"/>
              <a:t>Focus on optimizing promo campaigns by targeting peak gaming periods.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300"/>
              <a:t>2</a:t>
            </a:r>
            <a:r>
              <a:rPr b="1" lang="es-419" sz="1300"/>
              <a:t>. Monitor Revenue and Wagering Trends Monthly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-419" sz="1100"/>
              <a:t>Continue tracking performance using visual dashboards and correlation tracking.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419" sz="1100"/>
              <a:t>Use data to detect early signals of decline or growth in specific licenses.</a:t>
            </a:r>
            <a:br>
              <a:rPr lang="es-419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300"/>
              <a:t>3</a:t>
            </a:r>
            <a:r>
              <a:rPr b="1" lang="es-419" sz="1300"/>
              <a:t>. Maintain High Payout Standards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-419" sz="1100"/>
              <a:t>Keep the payout ratio near 95%–97% to maintain </a:t>
            </a:r>
            <a:r>
              <a:rPr b="1" lang="es-419" sz="1100"/>
              <a:t>player trust and retention</a:t>
            </a:r>
            <a:r>
              <a:rPr lang="es-419" sz="1100"/>
              <a:t>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419" sz="1100"/>
              <a:t>Investigate any months with payout ratios above 100% to ensure sustainability.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